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63" r:id="rId6"/>
    <p:sldId id="264" r:id="rId7"/>
    <p:sldId id="269" r:id="rId8"/>
    <p:sldId id="268" r:id="rId9"/>
    <p:sldId id="261" r:id="rId10"/>
    <p:sldId id="262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8B8"/>
    <a:srgbClr val="00E65C"/>
    <a:srgbClr val="ABF7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300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F1971-6BAE-4E55-AEB4-676EE73F6D7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F9662-59F2-4400-9484-BB3AC0033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94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1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9" Type="http://schemas.openxmlformats.org/officeDocument/2006/relationships/image" Target="../media/image57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40" Type="http://schemas.openxmlformats.org/officeDocument/2006/relationships/image" Target="../media/image4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finwell-ai.vercel.app/" TargetMode="External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1.png"/><Relationship Id="rId5" Type="http://schemas.openxmlformats.org/officeDocument/2006/relationships/image" Target="../media/image73.png"/><Relationship Id="rId10" Type="http://schemas.openxmlformats.org/officeDocument/2006/relationships/image" Target="../media/image77.png"/><Relationship Id="rId4" Type="http://schemas.openxmlformats.org/officeDocument/2006/relationships/image" Target="../media/image72.png"/><Relationship Id="rId9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.png"/><Relationship Id="rId4" Type="http://schemas.openxmlformats.org/officeDocument/2006/relationships/image" Target="../media/image96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33" y="380999"/>
            <a:ext cx="1142971" cy="17145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86742" y="-952499"/>
            <a:ext cx="2857428" cy="2857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476238" y="5429250"/>
            <a:ext cx="1904952" cy="1904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E65C"/>
              </a:gs>
              <a:gs pos="100000">
                <a:srgbClr val="0457B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5000"/>
            <a:biLevel thresh="25000"/>
          </a:blip>
          <a:stretch>
            <a:fillRect/>
          </a:stretch>
        </p:blipFill>
        <p:spPr>
          <a:xfrm>
            <a:off x="9124721" y="742950"/>
            <a:ext cx="1904952" cy="19049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 amt="5000"/>
            <a:biLevel thresh="25000"/>
          </a:blip>
          <a:stretch>
            <a:fillRect/>
          </a:stretch>
        </p:blipFill>
        <p:spPr>
          <a:xfrm>
            <a:off x="742931" y="3790949"/>
            <a:ext cx="1904952" cy="1904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52576" y="1628775"/>
            <a:ext cx="8296067" cy="1466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FFFF"/>
                </a:solidFill>
              </a:rPr>
              <a:t>Retail Banking –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</a:rPr>
              <a:t>GenAI Personal Finance Advisor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81490" y="3571875"/>
            <a:ext cx="1428714" cy="5715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6607" y="3790949"/>
            <a:ext cx="4278479" cy="4766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2600"/>
              </a:spcAft>
            </a:pPr>
            <a:r>
              <a:rPr sz="2000" b="0" dirty="0">
                <a:solidFill>
                  <a:srgbClr val="00E65C"/>
                </a:solidFill>
              </a:rPr>
              <a:t>AI-Powered Personal Financial Wellness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3633" y="4444809"/>
            <a:ext cx="1261436" cy="11199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1300"/>
              </a:spcBef>
              <a:spcAft>
                <a:spcPts val="0"/>
              </a:spcAft>
            </a:pPr>
            <a:r>
              <a:rPr lang="en-IN" sz="1400" dirty="0">
                <a:solidFill>
                  <a:schemeClr val="bg1"/>
                </a:solidFill>
              </a:rPr>
              <a:t>Anant </a:t>
            </a:r>
            <a:r>
              <a:rPr lang="en-IN" sz="1400" dirty="0" err="1">
                <a:solidFill>
                  <a:schemeClr val="bg1"/>
                </a:solidFill>
              </a:rPr>
              <a:t>Papewar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Anvit Kamble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Puja Basak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 err="1">
                <a:solidFill>
                  <a:schemeClr val="bg1"/>
                </a:solidFill>
              </a:rPr>
              <a:t>Uttaran</a:t>
            </a:r>
            <a:r>
              <a:rPr lang="en-IN" sz="1400" dirty="0">
                <a:solidFill>
                  <a:schemeClr val="bg1"/>
                </a:solidFill>
              </a:rPr>
              <a:t> Naha </a:t>
            </a:r>
            <a:endParaRPr sz="1200" b="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2B703-3F0E-019D-E902-3B00770CC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285750"/>
            <a:ext cx="10096247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Strategic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52499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8465" y="1736986"/>
            <a:ext cx="228594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199" y="1631065"/>
            <a:ext cx="2968505" cy="3668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0A1F39"/>
                </a:solidFill>
              </a:rPr>
              <a:t>Traditional Banks Under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99" y="2033503"/>
            <a:ext cx="5914877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</a:rPr>
              <a:t>Revenue-cost squeeze, risk of commoditization; becoming non-competitive vs fintechs and digital challengers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867025"/>
            <a:ext cx="228594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199" y="2779777"/>
            <a:ext cx="1292854" cy="3668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0A1F39"/>
                </a:solidFill>
              </a:rPr>
              <a:t>Fintech Surge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199" y="3182216"/>
            <a:ext cx="5914877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</a:rPr>
              <a:t>India's FinTech market booming (</a:t>
            </a:r>
            <a:r>
              <a:rPr sz="1400" b="1">
                <a:solidFill>
                  <a:srgbClr val="00E65C"/>
                </a:solidFill>
              </a:rPr>
              <a:t>projected USD 150B by 2025</a:t>
            </a:r>
            <a:r>
              <a:rPr sz="1400" b="0">
                <a:solidFill>
                  <a:srgbClr val="1E1E1E"/>
                </a:solidFill>
              </a:rPr>
              <a:t>), digital-savvy consumers expect personalized experiences like Amazon/Netflix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4076699"/>
            <a:ext cx="228594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199" y="4015578"/>
            <a:ext cx="1773178" cy="3668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0A1F39"/>
                </a:solidFill>
              </a:rPr>
              <a:t>GenAI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199" y="4418017"/>
            <a:ext cx="5914877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AI-driven services represent massive prospect: </a:t>
            </a:r>
            <a:r>
              <a:rPr sz="1400" b="1" dirty="0">
                <a:solidFill>
                  <a:srgbClr val="00E65C"/>
                </a:solidFill>
              </a:rPr>
              <a:t>$370+ billion</a:t>
            </a:r>
            <a:r>
              <a:rPr sz="1400" b="0" dirty="0">
                <a:solidFill>
                  <a:srgbClr val="1E1E1E"/>
                </a:solidFill>
              </a:rPr>
              <a:t> in new annual profit pools for retail banks by 2030 (BCG)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4066" y="1771650"/>
            <a:ext cx="4190895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4086" y="1927132"/>
            <a:ext cx="3790855" cy="32034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0A1F39"/>
                </a:solidFill>
              </a:rPr>
              <a:t>Banking Industry Profit Potential from AI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4086" y="2371725"/>
            <a:ext cx="3790855" cy="24574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840E7B-62BB-F185-899C-DDA2664F6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4713B2E-27B8-62CF-2BD3-A66F45DCBF40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285750"/>
            <a:ext cx="10000998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 dirty="0">
                <a:solidFill>
                  <a:srgbClr val="FFFFFF"/>
                </a:solidFill>
              </a:rPr>
              <a:t>Customer Journey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52499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4964" y="1535430"/>
            <a:ext cx="5143371" cy="533399"/>
          </a:xfrm>
          <a:prstGeom prst="roundRect">
            <a:avLst>
              <a:gd name="adj" fmla="val 21428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10252" y="1599254"/>
            <a:ext cx="1552797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300"/>
              </a:spcAft>
            </a:pPr>
            <a:r>
              <a:rPr sz="2000" b="1" dirty="0">
                <a:solidFill>
                  <a:srgbClr val="FFFFFF"/>
                </a:solidFill>
              </a:rPr>
              <a:t>As-Is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4964" y="2259330"/>
            <a:ext cx="5143371" cy="800099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360" y="2411729"/>
            <a:ext cx="228594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826" y="2325906"/>
            <a:ext cx="263117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0A1F39"/>
                </a:solidFill>
              </a:rPr>
              <a:t>Manual Money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350" y="2587832"/>
            <a:ext cx="4467113" cy="4955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Customers manually check balances, juggle bill payments, receive static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964" y="3218815"/>
            <a:ext cx="5143371" cy="869949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360" y="3300094"/>
            <a:ext cx="228594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8826" y="3264331"/>
            <a:ext cx="233461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0A1F39"/>
                </a:solidFill>
              </a:rPr>
              <a:t>Delayed Decision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826" y="3609937"/>
            <a:ext cx="4467113" cy="4955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Key financial moments arrive without timely guidance, leading to frustration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964" y="4300220"/>
            <a:ext cx="5143371" cy="869949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360" y="4381500"/>
            <a:ext cx="228594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38826" y="4345737"/>
            <a:ext cx="1991186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0A1F39"/>
                </a:solidFill>
              </a:rPr>
              <a:t>Missed 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826" y="4685516"/>
            <a:ext cx="4467113" cy="4955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Lack of personalized insights results in suboptimal financial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964" y="5463540"/>
            <a:ext cx="5143371" cy="869949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360" y="5544819"/>
            <a:ext cx="200019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0252" y="5509056"/>
            <a:ext cx="193995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0A1F39"/>
                </a:solidFill>
              </a:rPr>
              <a:t>Generic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619" y="5800933"/>
            <a:ext cx="4495687" cy="4955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One-size-fits-all alerts that don't account for individual circumstances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6967" y="1535430"/>
            <a:ext cx="5429114" cy="5200651"/>
          </a:xfrm>
          <a:prstGeom prst="rect">
            <a:avLst/>
          </a:prstGeom>
          <a:solidFill>
            <a:srgbClr val="00E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66967" y="1599254"/>
            <a:ext cx="5429113" cy="40575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300"/>
              </a:spcAft>
            </a:pPr>
            <a:r>
              <a:rPr sz="2000" b="1" dirty="0">
                <a:solidFill>
                  <a:srgbClr val="FFFFFF"/>
                </a:solidFill>
              </a:rPr>
              <a:t>To-Be Journey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839" y="2218690"/>
            <a:ext cx="5143371" cy="982346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2235" y="2371089"/>
            <a:ext cx="228594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33700" y="2335326"/>
            <a:ext cx="274729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0A1F39"/>
                </a:solidFill>
              </a:rPr>
              <a:t>AI-Powered Financial Wellness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33700" y="2694941"/>
            <a:ext cx="4467113" cy="380999"/>
          </a:xfrm>
          <a:prstGeom prst="roundRect">
            <a:avLst>
              <a:gd name="adj" fmla="val 3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59252" y="2797811"/>
            <a:ext cx="219069" cy="1904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14691" y="2727448"/>
            <a:ext cx="301685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E65C"/>
                </a:solidFill>
              </a:rPr>
              <a:t>Salary Received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1" dirty="0">
                <a:solidFill>
                  <a:schemeClr val="tx2">
                    <a:lumMod val="50000"/>
                  </a:schemeClr>
                </a:solidFill>
              </a:rPr>
              <a:t>→ instant savings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839" y="3348354"/>
            <a:ext cx="5143371" cy="982346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62235" y="3500755"/>
            <a:ext cx="171445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76552" y="3464992"/>
            <a:ext cx="249760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0A1F39"/>
                </a:solidFill>
              </a:rPr>
              <a:t>Real-Time Financial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90838" y="3834131"/>
            <a:ext cx="4524261" cy="380999"/>
          </a:xfrm>
          <a:prstGeom prst="roundRect">
            <a:avLst>
              <a:gd name="adj" fmla="val 3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90849" y="3930651"/>
            <a:ext cx="190495" cy="19049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28968" y="3854572"/>
            <a:ext cx="305243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E65C"/>
                </a:solidFill>
              </a:rPr>
              <a:t>Unusual Spending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1" dirty="0">
                <a:solidFill>
                  <a:schemeClr val="tx2">
                    <a:lumMod val="50000"/>
                  </a:schemeClr>
                </a:solidFill>
              </a:rPr>
              <a:t>→ alert &amp; budget tip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839" y="4460601"/>
            <a:ext cx="5143371" cy="982346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62235" y="4613002"/>
            <a:ext cx="200019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05126" y="4577239"/>
            <a:ext cx="2678169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0A1F39"/>
                </a:solidFill>
              </a:rPr>
              <a:t>Proactive Financial Assistance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90838" y="4955903"/>
            <a:ext cx="4495687" cy="380999"/>
          </a:xfrm>
          <a:prstGeom prst="roundRect">
            <a:avLst>
              <a:gd name="adj" fmla="val 3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33998" y="5069820"/>
            <a:ext cx="171445" cy="19049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57542" y="5007461"/>
            <a:ext cx="297017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E65C"/>
                </a:solidFill>
              </a:rPr>
              <a:t>Upcoming Bill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1" dirty="0">
                <a:solidFill>
                  <a:schemeClr val="tx2">
                    <a:lumMod val="50000"/>
                  </a:schemeClr>
                </a:solidFill>
              </a:rPr>
              <a:t>→ automated reminder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839" y="5574938"/>
            <a:ext cx="5143371" cy="982346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62235" y="5686697"/>
            <a:ext cx="257168" cy="2286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862275" y="5650934"/>
            <a:ext cx="299550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0A1F39"/>
                </a:solidFill>
              </a:rPr>
              <a:t>Goal-Oriented Recommendations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19411" y="5998801"/>
            <a:ext cx="4438539" cy="380999"/>
          </a:xfrm>
          <a:prstGeom prst="roundRect">
            <a:avLst>
              <a:gd name="adj" fmla="val 3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938473" y="6084206"/>
            <a:ext cx="219069" cy="19049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12164" y="6028697"/>
            <a:ext cx="288604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E65C"/>
                </a:solidFill>
              </a:rPr>
              <a:t>Planning Vacation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1" dirty="0">
                <a:solidFill>
                  <a:schemeClr val="tx2">
                    <a:lumMod val="50000"/>
                  </a:schemeClr>
                </a:solidFill>
              </a:rPr>
              <a:t>→ tailored savings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27C197A-DB40-1059-D568-FA576915A85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AD32F31-D8BC-124C-2B9F-012953626563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222" y="288053"/>
            <a:ext cx="2788649" cy="5668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3900"/>
              </a:lnSpc>
              <a:spcAft>
                <a:spcPts val="650"/>
              </a:spcAft>
            </a:pPr>
            <a:r>
              <a:rPr lang="en-IN" sz="2400" b="1" dirty="0">
                <a:solidFill>
                  <a:srgbClr val="FFFFFF"/>
                </a:solidFill>
              </a:rPr>
              <a:t>Product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52499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4502" y="1460497"/>
            <a:ext cx="1800179" cy="2209800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323" y="1540792"/>
            <a:ext cx="1552536" cy="61093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400" b="1" dirty="0">
                <a:solidFill>
                  <a:srgbClr val="0A1F39"/>
                </a:solidFill>
              </a:rPr>
              <a:t>Data Sources</a:t>
            </a:r>
            <a:r>
              <a:rPr sz="1104" dirty="0"/>
              <a:t>
</a:t>
            </a:r>
            <a:r>
              <a:rPr lang="en-IN" sz="1400" b="1" dirty="0">
                <a:solidFill>
                  <a:srgbClr val="0A1F39"/>
                </a:solidFill>
              </a:rPr>
              <a:t>(Consent-Based)</a:t>
            </a:r>
            <a:endParaRPr sz="1400" b="1" dirty="0">
              <a:solidFill>
                <a:srgbClr val="0A1F3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5947" y="2166352"/>
            <a:ext cx="1608261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/>
              <a:t>  </a:t>
            </a:r>
            <a:r>
              <a:rPr sz="1100" dirty="0">
                <a:solidFill>
                  <a:srgbClr val="1E1E1E"/>
                </a:solidFill>
              </a:rPr>
              <a:t> Core Banking Systems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947" y="2232021"/>
            <a:ext cx="114297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5947" y="2414003"/>
            <a:ext cx="1491242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/>
              <a:t>  </a:t>
            </a:r>
            <a:r>
              <a:rPr sz="1100">
                <a:solidFill>
                  <a:srgbClr val="1E1E1E"/>
                </a:solidFill>
              </a:rPr>
              <a:t> Account Aggregator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47" y="2470147"/>
            <a:ext cx="114297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5947" y="2652127"/>
            <a:ext cx="1146596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/>
              <a:t>  </a:t>
            </a:r>
            <a:r>
              <a:rPr sz="1100">
                <a:solidFill>
                  <a:srgbClr val="1E1E1E"/>
                </a:solidFill>
              </a:rPr>
              <a:t> Credit Bureau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47" y="2717796"/>
            <a:ext cx="133346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5947" y="2890253"/>
            <a:ext cx="1008738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/>
              <a:t>  </a:t>
            </a:r>
            <a:r>
              <a:rPr sz="1100">
                <a:solidFill>
                  <a:srgbClr val="1E1E1E"/>
                </a:solidFill>
              </a:rPr>
              <a:t> User Inputs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947" y="2965447"/>
            <a:ext cx="104772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8323" y="3203072"/>
            <a:ext cx="1552536" cy="3724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1100" dirty="0">
                <a:solidFill>
                  <a:srgbClr val="00E65C"/>
                </a:solidFill>
              </a:rPr>
              <a:t>Secure • Consent-driven • Regulated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6493" y="2514595"/>
            <a:ext cx="171445" cy="19049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192803" y="1460497"/>
            <a:ext cx="1800179" cy="5124449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16625" y="1552499"/>
            <a:ext cx="1552536" cy="81612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600" b="1" dirty="0">
                <a:solidFill>
                  <a:srgbClr val="0A1F39"/>
                </a:solidFill>
              </a:rPr>
              <a:t>Enterprise Data Platform</a:t>
            </a:r>
            <a:r>
              <a:rPr sz="1104" dirty="0"/>
              <a:t>
</a:t>
            </a:r>
            <a:r>
              <a:rPr sz="1400" b="1" dirty="0">
                <a:solidFill>
                  <a:srgbClr val="0A1F39"/>
                </a:solidFill>
              </a:rPr>
              <a:t>(CDP / Lakehouse)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6625" y="2394952"/>
            <a:ext cx="134677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1100" dirty="0"/>
              <a:t>  </a:t>
            </a:r>
            <a:r>
              <a:rPr sz="1100" b="1" dirty="0">
                <a:solidFill>
                  <a:srgbClr val="8B4513"/>
                </a:solidFill>
              </a:rPr>
              <a:t> Bronze – Raw Data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6625" y="2470147"/>
            <a:ext cx="104772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64249" y="2623552"/>
            <a:ext cx="1366208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/>
              <a:t>  </a:t>
            </a:r>
            <a:r>
              <a:rPr sz="1100" dirty="0">
                <a:solidFill>
                  <a:srgbClr val="1E1E1E"/>
                </a:solidFill>
              </a:rPr>
              <a:t> Transaction feeds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249" y="2679697"/>
            <a:ext cx="114297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64249" y="2861678"/>
            <a:ext cx="1072858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/>
              <a:t>  </a:t>
            </a:r>
            <a:r>
              <a:rPr sz="1100">
                <a:solidFill>
                  <a:srgbClr val="1E1E1E"/>
                </a:solidFill>
              </a:rPr>
              <a:t> AA ingestion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249" y="2927347"/>
            <a:ext cx="114297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364249" y="3099803"/>
            <a:ext cx="1148199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/>
              <a:t>  </a:t>
            </a:r>
            <a:r>
              <a:rPr sz="1100" dirty="0">
                <a:solidFill>
                  <a:srgbClr val="1E1E1E"/>
                </a:solidFill>
              </a:rPr>
              <a:t> Logs &amp; events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64249" y="3174996"/>
            <a:ext cx="133346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16625" y="3410738"/>
            <a:ext cx="1552536" cy="4185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100" b="1" dirty="0">
                <a:solidFill>
                  <a:srgbClr val="808080"/>
                </a:solidFill>
              </a:rPr>
              <a:t>   </a:t>
            </a:r>
            <a:r>
              <a:rPr sz="1100" b="1" dirty="0">
                <a:solidFill>
                  <a:srgbClr val="808080"/>
                </a:solidFill>
              </a:rPr>
              <a:t>Silv</a:t>
            </a:r>
            <a:r>
              <a:rPr lang="en-IN" sz="1100" b="1" dirty="0">
                <a:solidFill>
                  <a:srgbClr val="808080"/>
                </a:solidFill>
              </a:rPr>
              <a:t>er – Cleaned &amp; </a:t>
            </a:r>
            <a:r>
              <a:rPr lang="en-US" sz="1100" b="1" dirty="0">
                <a:solidFill>
                  <a:srgbClr val="808080"/>
                </a:solidFill>
              </a:rPr>
              <a:t>                           </a:t>
            </a:r>
            <a:r>
              <a:rPr sz="1100" b="1" dirty="0">
                <a:solidFill>
                  <a:srgbClr val="808080"/>
                </a:solidFill>
              </a:rPr>
              <a:t>Enriched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12386" y="3491437"/>
            <a:ext cx="133346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364249" y="3806768"/>
            <a:ext cx="1492845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Spend categorization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64249" y="3872437"/>
            <a:ext cx="114297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364249" y="4054419"/>
            <a:ext cx="1641924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Merchant normalization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364249" y="4110563"/>
            <a:ext cx="133346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64249" y="4292543"/>
            <a:ext cx="1395062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Customer 360 view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364249" y="4358212"/>
            <a:ext cx="114297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316625" y="4674599"/>
            <a:ext cx="1718676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1100" dirty="0"/>
              <a:t>  </a:t>
            </a:r>
            <a:r>
              <a:rPr sz="1100" b="1" dirty="0">
                <a:solidFill>
                  <a:srgbClr val="D4AF37"/>
                </a:solidFill>
              </a:rPr>
              <a:t> Gold – AI-Ready Features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316625" y="4740268"/>
            <a:ext cx="133346" cy="1143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364249" y="4907217"/>
            <a:ext cx="1504912" cy="418576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Monthly spend summaries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379489" y="4993211"/>
            <a:ext cx="114297" cy="114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364249" y="5280137"/>
            <a:ext cx="1369414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Cash-flow patterns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1383" y="5325793"/>
            <a:ext cx="14" cy="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0457B0"/>
                </a:solidFill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64249" y="5569948"/>
            <a:ext cx="1694823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Goal readiness indicators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364249" y="5626093"/>
            <a:ext cx="114297" cy="1143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364249" y="5808074"/>
            <a:ext cx="975075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Risk metrics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364249" y="5873743"/>
            <a:ext cx="114297" cy="1143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209508" y="6087674"/>
            <a:ext cx="1766767" cy="24423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1100" dirty="0">
                <a:solidFill>
                  <a:srgbClr val="00E65C"/>
                </a:solidFill>
              </a:rPr>
              <a:t>Implemented by </a:t>
            </a:r>
            <a:r>
              <a:rPr sz="1100" dirty="0" err="1">
                <a:solidFill>
                  <a:srgbClr val="00E65C"/>
                </a:solidFill>
              </a:rPr>
              <a:t>Hoonartek</a:t>
            </a:r>
            <a:endParaRPr sz="1100" dirty="0">
              <a:solidFill>
                <a:srgbClr val="00E65C"/>
              </a:solidFill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4790" y="2527295"/>
            <a:ext cx="171445" cy="190499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248043" y="1460497"/>
            <a:ext cx="1800179" cy="3600450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71864" y="1571568"/>
            <a:ext cx="1552535" cy="52399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600" b="1" dirty="0">
                <a:solidFill>
                  <a:srgbClr val="0A1F39"/>
                </a:solidFill>
              </a:rPr>
              <a:t>A</a:t>
            </a:r>
            <a:r>
              <a:rPr lang="en-IN" sz="1600" b="1" dirty="0" err="1">
                <a:solidFill>
                  <a:srgbClr val="0A1F39"/>
                </a:solidFill>
              </a:rPr>
              <a:t>nalytics</a:t>
            </a:r>
            <a:r>
              <a:rPr lang="en-IN" sz="1600" b="1" dirty="0">
                <a:solidFill>
                  <a:srgbClr val="0A1F39"/>
                </a:solidFill>
              </a:rPr>
              <a:t> &amp; AI </a:t>
            </a:r>
            <a:r>
              <a:rPr sz="1600" b="1" dirty="0">
                <a:solidFill>
                  <a:srgbClr val="0A1F39"/>
                </a:solidFill>
              </a:rPr>
              <a:t>Intelligence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1865" y="2056293"/>
            <a:ext cx="1026178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1100" b="1" dirty="0">
                <a:solidFill>
                  <a:srgbClr val="0457B0"/>
                </a:solidFill>
              </a:rPr>
              <a:t>ML &amp;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9489" y="2284890"/>
            <a:ext cx="1406282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Spend classification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19489" y="2341035"/>
            <a:ext cx="114297" cy="1143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419489" y="2523016"/>
            <a:ext cx="1374222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Anomaly detection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419489" y="2588685"/>
            <a:ext cx="114297" cy="1143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419489" y="2761141"/>
            <a:ext cx="1133772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Goal feasibility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419489" y="2836334"/>
            <a:ext cx="114297" cy="1143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419489" y="3008791"/>
            <a:ext cx="1452770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Affordability models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489" y="3074460"/>
            <a:ext cx="133346" cy="1143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371865" y="3313588"/>
            <a:ext cx="134838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1100" b="1" dirty="0">
                <a:solidFill>
                  <a:srgbClr val="0457B0"/>
                </a:solidFill>
              </a:rPr>
              <a:t>GenAI Orchestration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19489" y="3542188"/>
            <a:ext cx="1451166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Financial summaries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419489" y="3607856"/>
            <a:ext cx="85722" cy="1143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419489" y="3789838"/>
            <a:ext cx="1460785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Personalized nudges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419489" y="3845981"/>
            <a:ext cx="104772" cy="1143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419489" y="4027962"/>
            <a:ext cx="1361398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Recommendations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419489" y="4093631"/>
            <a:ext cx="85722" cy="1143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419489" y="4266088"/>
            <a:ext cx="1252394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lang="en-US" sz="1100" dirty="0">
                <a:solidFill>
                  <a:srgbClr val="1E1E1E"/>
                </a:solidFill>
              </a:rPr>
              <a:t> </a:t>
            </a:r>
            <a:r>
              <a:rPr sz="1100" dirty="0">
                <a:solidFill>
                  <a:srgbClr val="1E1E1E"/>
                </a:solidFill>
              </a:rPr>
              <a:t>Context memory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4419489" y="4341282"/>
            <a:ext cx="142871" cy="1143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371865" y="4619123"/>
            <a:ext cx="1552536" cy="3724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1100" dirty="0">
                <a:solidFill>
                  <a:srgbClr val="00E65C"/>
                </a:solidFill>
              </a:rPr>
              <a:t>LLMs • </a:t>
            </a:r>
            <a:r>
              <a:rPr sz="1100" dirty="0" err="1">
                <a:solidFill>
                  <a:srgbClr val="00E65C"/>
                </a:solidFill>
              </a:rPr>
              <a:t>LangChain</a:t>
            </a:r>
            <a:r>
              <a:rPr sz="1100" dirty="0">
                <a:solidFill>
                  <a:srgbClr val="00E65C"/>
                </a:solidFill>
              </a:rPr>
              <a:t>-style orchestration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2461" y="2516712"/>
            <a:ext cx="171445" cy="190499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6262005" y="1460497"/>
            <a:ext cx="1800179" cy="1809749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99333" y="1456262"/>
            <a:ext cx="1552536" cy="5238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600" b="1" dirty="0">
                <a:solidFill>
                  <a:srgbClr val="0A1F39"/>
                </a:solidFill>
              </a:rPr>
              <a:t>Event &amp; Decision Engine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25831" y="2166352"/>
            <a:ext cx="1693220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/>
              <a:t> </a:t>
            </a:r>
            <a:r>
              <a:rPr sz="1100" dirty="0">
                <a:solidFill>
                  <a:srgbClr val="1E1E1E"/>
                </a:solidFill>
              </a:rPr>
              <a:t>Salary → savings nudge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6433451" y="2232021"/>
            <a:ext cx="133346" cy="1143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425831" y="2414003"/>
            <a:ext cx="1438342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Bill due → reminder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433451" y="2470147"/>
            <a:ext cx="104772" cy="1143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425831" y="2652127"/>
            <a:ext cx="1592231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Unusual spend → alert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6433451" y="2717796"/>
            <a:ext cx="114297" cy="1143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399333" y="2943343"/>
            <a:ext cx="1510285" cy="24423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1100" dirty="0">
                <a:solidFill>
                  <a:srgbClr val="00E65C"/>
                </a:solidFill>
              </a:rPr>
              <a:t>Kafka / Event streaming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71708" y="2514594"/>
            <a:ext cx="171445" cy="190499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8266441" y="1460497"/>
            <a:ext cx="1800179" cy="1809749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74456" y="1465157"/>
            <a:ext cx="1552536" cy="5238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600" b="1" dirty="0">
                <a:solidFill>
                  <a:srgbClr val="0A1F39"/>
                </a:solidFill>
              </a:rPr>
              <a:t>Experience &amp; Integration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7809" y="2280544"/>
            <a:ext cx="1439946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Mobile Banking App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8437886" y="2350553"/>
            <a:ext cx="85722" cy="11430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437886" y="2473272"/>
            <a:ext cx="1130566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GenAI Chatbot</a:t>
            </a: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8427809" y="2529416"/>
            <a:ext cx="142871" cy="1143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437886" y="2711396"/>
            <a:ext cx="1353384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APIs for CRM / RM</a:t>
            </a:r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8437886" y="2777065"/>
            <a:ext cx="85722" cy="1143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8282347" y="3002611"/>
            <a:ext cx="1768369" cy="24423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1100" dirty="0">
                <a:solidFill>
                  <a:srgbClr val="00E65C"/>
                </a:solidFill>
              </a:rPr>
              <a:t>Secure APIs • Microservices</a:t>
            </a:r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0966" y="2516712"/>
            <a:ext cx="171445" cy="190499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10262411" y="1460497"/>
            <a:ext cx="1800179" cy="3838574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265749" y="1572557"/>
            <a:ext cx="1793504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600" b="1" dirty="0">
                <a:solidFill>
                  <a:srgbClr val="0A1F39"/>
                </a:solidFill>
              </a:rPr>
              <a:t>Business Outcomes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86233" y="1937752"/>
            <a:ext cx="86748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1100" dirty="0"/>
              <a:t>  </a:t>
            </a:r>
            <a:r>
              <a:rPr sz="1100" b="1" dirty="0">
                <a:solidFill>
                  <a:srgbClr val="0A1F39"/>
                </a:solidFill>
              </a:rPr>
              <a:t> Customers</a:t>
            </a: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10386233" y="2012947"/>
            <a:ext cx="142871" cy="1143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433856" y="2166352"/>
            <a:ext cx="1175450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Financial clarity</a:t>
            </a:r>
          </a:p>
        </p:txBody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10433856" y="2222497"/>
            <a:ext cx="133346" cy="11430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0433856" y="2404478"/>
            <a:ext cx="1077667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Goal planning</a:t>
            </a:r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433856" y="2470147"/>
            <a:ext cx="114297" cy="1143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0433856" y="2642603"/>
            <a:ext cx="1236364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Reduced anxiety</a:t>
            </a:r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10433856" y="2717796"/>
            <a:ext cx="114297" cy="1143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0386233" y="3033128"/>
            <a:ext cx="534057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1100"/>
              <a:t>  </a:t>
            </a:r>
            <a:r>
              <a:rPr sz="1100" b="1">
                <a:solidFill>
                  <a:srgbClr val="0A1F39"/>
                </a:solidFill>
              </a:rPr>
              <a:t> Bank</a:t>
            </a: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386233" y="3108322"/>
            <a:ext cx="114297" cy="1143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0433856" y="3252202"/>
            <a:ext cx="1419106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Higher engagement</a:t>
            </a:r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433856" y="3327397"/>
            <a:ext cx="142871" cy="1143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433856" y="3499853"/>
            <a:ext cx="1605055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Cross-sell opportunities</a:t>
            </a:r>
          </a:p>
        </p:txBody>
      </p:sp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3856" y="3565521"/>
            <a:ext cx="114297" cy="11430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433856" y="3747503"/>
            <a:ext cx="1427122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lang="en-IN" sz="1100" dirty="0">
                <a:solidFill>
                  <a:srgbClr val="1E1E1E"/>
                </a:solidFill>
              </a:rPr>
              <a:t>Lower </a:t>
            </a:r>
            <a:r>
              <a:rPr sz="1100" dirty="0">
                <a:solidFill>
                  <a:srgbClr val="1E1E1E"/>
                </a:solidFill>
              </a:rPr>
              <a:t>cost-to-serve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10433856" y="3803646"/>
            <a:ext cx="114297" cy="1143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0386233" y="4128502"/>
            <a:ext cx="133235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1100"/>
              <a:t>  </a:t>
            </a:r>
            <a:r>
              <a:rPr sz="1100" b="1">
                <a:solidFill>
                  <a:srgbClr val="0A1F39"/>
                </a:solidFill>
              </a:rPr>
              <a:t> Risk &amp; Compliance</a:t>
            </a:r>
          </a:p>
        </p:txBody>
      </p:sp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10386233" y="4203697"/>
            <a:ext cx="114297" cy="1143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0433856" y="4357102"/>
            <a:ext cx="1499257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Explainable decisions</a:t>
            </a:r>
          </a:p>
        </p:txBody>
      </p:sp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10433856" y="4413247"/>
            <a:ext cx="114297" cy="11430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0433856" y="4595228"/>
            <a:ext cx="1177053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Audit readiness</a:t>
            </a:r>
          </a:p>
        </p:txBody>
      </p:sp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10433856" y="4660897"/>
            <a:ext cx="85722" cy="1143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10433856" y="4833353"/>
            <a:ext cx="1572995" cy="264688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1100" dirty="0">
                <a:solidFill>
                  <a:srgbClr val="1E1E1E"/>
                </a:solidFill>
              </a:rPr>
              <a:t>Regulatory confidence</a:t>
            </a:r>
          </a:p>
        </p:txBody>
      </p:sp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10433856" y="4908546"/>
            <a:ext cx="114297" cy="114300"/>
          </a:xfrm>
          <a:prstGeom prst="rect">
            <a:avLst/>
          </a:prstGeom>
        </p:spPr>
      </p:pic>
      <p:sp>
        <p:nvSpPr>
          <p:cNvPr id="116" name="Rounded Rectangle 115"/>
          <p:cNvSpPr/>
          <p:nvPr/>
        </p:nvSpPr>
        <p:spPr>
          <a:xfrm>
            <a:off x="4206236" y="5524172"/>
            <a:ext cx="7853018" cy="638175"/>
          </a:xfrm>
          <a:prstGeom prst="roundRect">
            <a:avLst>
              <a:gd name="adj" fmla="val 23880"/>
            </a:avLst>
          </a:prstGeom>
          <a:solidFill>
            <a:srgbClr val="F5F5F5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7" name="TextBox 116"/>
          <p:cNvSpPr txBox="1"/>
          <p:nvPr/>
        </p:nvSpPr>
        <p:spPr>
          <a:xfrm>
            <a:off x="4475586" y="5554344"/>
            <a:ext cx="7463183" cy="29283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1400" b="1" dirty="0">
                <a:solidFill>
                  <a:srgbClr val="0A1F39"/>
                </a:solidFill>
              </a:rPr>
              <a:t>Governance, Security &amp; Compliance</a:t>
            </a:r>
          </a:p>
        </p:txBody>
      </p:sp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4536681" y="5979363"/>
            <a:ext cx="114297" cy="11430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4703687" y="5896398"/>
            <a:ext cx="1016560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1E1E1E"/>
                </a:solidFill>
              </a:rPr>
              <a:t>RBI AA consent</a:t>
            </a:r>
          </a:p>
        </p:txBody>
      </p:sp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6204856" y="5971592"/>
            <a:ext cx="114297" cy="11430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6319153" y="5897659"/>
            <a:ext cx="1151213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1E1E1E"/>
                </a:solidFill>
              </a:rPr>
              <a:t>DPDP compliance</a:t>
            </a:r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7795321" y="5971592"/>
            <a:ext cx="114297" cy="11430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7896506" y="5896398"/>
            <a:ext cx="949234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1E1E1E"/>
                </a:solidFill>
              </a:rPr>
              <a:t>Explainable AI</a:t>
            </a:r>
          </a:p>
        </p:txBody>
      </p:sp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9165011" y="5971592"/>
            <a:ext cx="114297" cy="114300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9326931" y="5896398"/>
            <a:ext cx="1242584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1E1E"/>
                </a:solidFill>
              </a:rPr>
              <a:t>Human-in-the-loop</a:t>
            </a:r>
          </a:p>
        </p:txBody>
      </p:sp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10871564" y="5971592"/>
            <a:ext cx="114297" cy="11430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0985861" y="5914818"/>
            <a:ext cx="808170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1E1E"/>
                </a:solidFill>
              </a:rPr>
              <a:t>RBI FREE-AI</a:t>
            </a: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33DADBE3-3C82-0F3D-29D8-94423E09D5F1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79C3DA70-0E77-CE7D-A2AA-ADF01B810930}"/>
              </a:ext>
            </a:extLst>
          </p:cNvPr>
          <p:cNvSpPr txBox="1"/>
          <p:nvPr/>
        </p:nvSpPr>
        <p:spPr>
          <a:xfrm>
            <a:off x="6319153" y="1922424"/>
            <a:ext cx="1809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rgbClr val="1E68B8"/>
                </a:solidFill>
              </a:rPr>
              <a:t>Real-time business actions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A2919D2-84DD-4FA7-C401-34A178A7EFC0}"/>
              </a:ext>
            </a:extLst>
          </p:cNvPr>
          <p:cNvSpPr txBox="1"/>
          <p:nvPr/>
        </p:nvSpPr>
        <p:spPr>
          <a:xfrm>
            <a:off x="8302981" y="1880114"/>
            <a:ext cx="17477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1E68B8"/>
                </a:solidFill>
              </a:rPr>
              <a:t>Where business users consume insights</a:t>
            </a:r>
            <a:endParaRPr lang="en-IN" sz="1100" b="1" dirty="0">
              <a:solidFill>
                <a:srgbClr val="1E68B8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40AC5F8-BC71-3DEF-6E8A-3CA9A9285F6D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4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32CD-E7EE-353D-923B-C6C527AC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B9D8FA-7853-90B2-FF49-F37ED2F94D43}"/>
              </a:ext>
            </a:extLst>
          </p:cNvPr>
          <p:cNvSpPr/>
          <p:nvPr/>
        </p:nvSpPr>
        <p:spPr>
          <a:xfrm>
            <a:off x="0" y="0"/>
            <a:ext cx="12191695" cy="755651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99755-3EA4-7D1F-C944-381295F51534}"/>
              </a:ext>
            </a:extLst>
          </p:cNvPr>
          <p:cNvSpPr txBox="1"/>
          <p:nvPr/>
        </p:nvSpPr>
        <p:spPr>
          <a:xfrm>
            <a:off x="537410" y="87521"/>
            <a:ext cx="5822750" cy="48013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Prototype Screens: Complete App Flow</a:t>
            </a:r>
            <a:endParaRPr lang="en-IN" sz="2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1A121BF-02B6-FF49-2887-01FDBD6E9F36}"/>
              </a:ext>
            </a:extLst>
          </p:cNvPr>
          <p:cNvSpPr/>
          <p:nvPr/>
        </p:nvSpPr>
        <p:spPr>
          <a:xfrm>
            <a:off x="619109" y="574637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A screenshot of a phone&#10;&#10;AI-generated content may be incorrect.">
            <a:extLst>
              <a:ext uri="{FF2B5EF4-FFF2-40B4-BE49-F238E27FC236}">
                <a16:creationId xmlns:a16="http://schemas.microsoft.com/office/drawing/2014/main" id="{CC3F18BB-D4E6-95E0-7A3A-006DC79F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67"/>
          <a:stretch>
            <a:fillRect/>
          </a:stretch>
        </p:blipFill>
        <p:spPr>
          <a:xfrm>
            <a:off x="88810" y="1236873"/>
            <a:ext cx="1986349" cy="4029818"/>
          </a:xfrm>
          <a:prstGeom prst="rect">
            <a:avLst/>
          </a:prstGeom>
        </p:spPr>
      </p:pic>
      <p:pic>
        <p:nvPicPr>
          <p:cNvPr id="69" name="Picture 68" descr="A screenshot of a phone&#10;&#10;AI-generated content may be incorrect.">
            <a:extLst>
              <a:ext uri="{FF2B5EF4-FFF2-40B4-BE49-F238E27FC236}">
                <a16:creationId xmlns:a16="http://schemas.microsoft.com/office/drawing/2014/main" id="{904DA70D-583A-BBAB-AAEF-26408F2E5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67"/>
          <a:stretch>
            <a:fillRect/>
          </a:stretch>
        </p:blipFill>
        <p:spPr>
          <a:xfrm>
            <a:off x="2136607" y="1236873"/>
            <a:ext cx="1986349" cy="4029818"/>
          </a:xfrm>
          <a:prstGeom prst="rect">
            <a:avLst/>
          </a:prstGeom>
        </p:spPr>
      </p:pic>
      <p:pic>
        <p:nvPicPr>
          <p:cNvPr id="71" name="Picture 70" descr="A screenshot of a phone&#10;&#10;AI-generated content may be incorrect.">
            <a:extLst>
              <a:ext uri="{FF2B5EF4-FFF2-40B4-BE49-F238E27FC236}">
                <a16:creationId xmlns:a16="http://schemas.microsoft.com/office/drawing/2014/main" id="{0B4C64EA-12D8-B79E-77B9-EEFCE20811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67"/>
          <a:stretch>
            <a:fillRect/>
          </a:stretch>
        </p:blipFill>
        <p:spPr>
          <a:xfrm>
            <a:off x="4122956" y="1240105"/>
            <a:ext cx="1986349" cy="4029818"/>
          </a:xfrm>
          <a:prstGeom prst="rect">
            <a:avLst/>
          </a:prstGeom>
        </p:spPr>
      </p:pic>
      <p:pic>
        <p:nvPicPr>
          <p:cNvPr id="73" name="Picture 72" descr="A screenshot of a credit card&#10;&#10;AI-generated content may be incorrect.">
            <a:extLst>
              <a:ext uri="{FF2B5EF4-FFF2-40B4-BE49-F238E27FC236}">
                <a16:creationId xmlns:a16="http://schemas.microsoft.com/office/drawing/2014/main" id="{28AF31B2-452B-5BE3-3408-7C2F950964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67"/>
          <a:stretch>
            <a:fillRect/>
          </a:stretch>
        </p:blipFill>
        <p:spPr>
          <a:xfrm>
            <a:off x="6180913" y="1225549"/>
            <a:ext cx="1986349" cy="4029818"/>
          </a:xfrm>
          <a:prstGeom prst="rect">
            <a:avLst/>
          </a:prstGeom>
        </p:spPr>
      </p:pic>
      <p:pic>
        <p:nvPicPr>
          <p:cNvPr id="77" name="Picture 76" descr="A screenshot of a phone&#10;&#10;AI-generated content may be incorrect.">
            <a:extLst>
              <a:ext uri="{FF2B5EF4-FFF2-40B4-BE49-F238E27FC236}">
                <a16:creationId xmlns:a16="http://schemas.microsoft.com/office/drawing/2014/main" id="{B64069DA-93FC-58F3-16D3-59620BB36F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343"/>
          <a:stretch>
            <a:fillRect/>
          </a:stretch>
        </p:blipFill>
        <p:spPr>
          <a:xfrm>
            <a:off x="10106681" y="1257893"/>
            <a:ext cx="1986349" cy="4026586"/>
          </a:xfrm>
          <a:prstGeom prst="rect">
            <a:avLst/>
          </a:prstGeom>
        </p:spPr>
      </p:pic>
      <p:pic>
        <p:nvPicPr>
          <p:cNvPr id="81" name="Picture 80" descr="A screenshot of a graph&#10;&#10;AI-generated content may be incorrect.">
            <a:extLst>
              <a:ext uri="{FF2B5EF4-FFF2-40B4-BE49-F238E27FC236}">
                <a16:creationId xmlns:a16="http://schemas.microsoft.com/office/drawing/2014/main" id="{ADE6E7A8-BA48-FA67-F66C-3B6D0D89203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926"/>
          <a:stretch>
            <a:fillRect/>
          </a:stretch>
        </p:blipFill>
        <p:spPr>
          <a:xfrm>
            <a:off x="8167262" y="1299884"/>
            <a:ext cx="1963365" cy="3955484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3CC6CA85-34D9-B741-85E2-52472A49BE90}"/>
              </a:ext>
            </a:extLst>
          </p:cNvPr>
          <p:cNvSpPr txBox="1"/>
          <p:nvPr/>
        </p:nvSpPr>
        <p:spPr>
          <a:xfrm>
            <a:off x="219919" y="5532699"/>
            <a:ext cx="170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Home Dashboard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8B71E2-747A-9426-F630-6964BE4C024D}"/>
              </a:ext>
            </a:extLst>
          </p:cNvPr>
          <p:cNvSpPr txBox="1"/>
          <p:nvPr/>
        </p:nvSpPr>
        <p:spPr>
          <a:xfrm>
            <a:off x="2279042" y="5532699"/>
            <a:ext cx="1701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Weekly Spending Summary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D899E4C-80C6-C7CE-2448-6E53E2D33DF5}"/>
              </a:ext>
            </a:extLst>
          </p:cNvPr>
          <p:cNvSpPr txBox="1"/>
          <p:nvPr/>
        </p:nvSpPr>
        <p:spPr>
          <a:xfrm>
            <a:off x="8298205" y="5466479"/>
            <a:ext cx="1701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Spending, Savings &amp; Goals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D0C827-1C8B-241A-87C0-7A24D99812BF}"/>
              </a:ext>
            </a:extLst>
          </p:cNvPr>
          <p:cNvSpPr txBox="1"/>
          <p:nvPr/>
        </p:nvSpPr>
        <p:spPr>
          <a:xfrm>
            <a:off x="4338165" y="5511309"/>
            <a:ext cx="170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Smart Alerts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1B9B75-62D1-28D3-A70D-DE47EA5D16CC}"/>
              </a:ext>
            </a:extLst>
          </p:cNvPr>
          <p:cNvSpPr txBox="1"/>
          <p:nvPr/>
        </p:nvSpPr>
        <p:spPr>
          <a:xfrm>
            <a:off x="6300420" y="5511309"/>
            <a:ext cx="1701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Product Recommendations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665DC7-68A9-8CBD-F640-8ECCEC6C4E67}"/>
              </a:ext>
            </a:extLst>
          </p:cNvPr>
          <p:cNvSpPr txBox="1"/>
          <p:nvPr/>
        </p:nvSpPr>
        <p:spPr>
          <a:xfrm>
            <a:off x="10209113" y="5446218"/>
            <a:ext cx="170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My Account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36957-BA9E-AC46-89DA-C1D9DA56FF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9AB6FE-1B6A-DFD2-7C22-5C1B9F6C289D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8397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3533-C6FF-7A34-E95F-084B199B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EDD65A-C7AE-90D5-8CA9-18C6623688AE}"/>
              </a:ext>
            </a:extLst>
          </p:cNvPr>
          <p:cNvSpPr/>
          <p:nvPr/>
        </p:nvSpPr>
        <p:spPr>
          <a:xfrm>
            <a:off x="0" y="0"/>
            <a:ext cx="12191695" cy="755651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B665E-A6CC-3983-B63B-6909FF343A3F}"/>
              </a:ext>
            </a:extLst>
          </p:cNvPr>
          <p:cNvSpPr txBox="1"/>
          <p:nvPr/>
        </p:nvSpPr>
        <p:spPr>
          <a:xfrm>
            <a:off x="537410" y="87521"/>
            <a:ext cx="5822750" cy="48013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Prototype Screens: AI Coach Assistant Flow</a:t>
            </a:r>
            <a:endParaRPr lang="en-IN" sz="2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25E79F-D4D1-DB34-C163-F233500F98DE}"/>
              </a:ext>
            </a:extLst>
          </p:cNvPr>
          <p:cNvSpPr/>
          <p:nvPr/>
        </p:nvSpPr>
        <p:spPr>
          <a:xfrm>
            <a:off x="619109" y="574637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1E34D857-B7A7-47FA-CDF1-575C871E8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37"/>
          <a:stretch>
            <a:fillRect/>
          </a:stretch>
        </p:blipFill>
        <p:spPr>
          <a:xfrm>
            <a:off x="72244" y="1616835"/>
            <a:ext cx="1932173" cy="3904289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EA34077B-F323-556A-CF69-48B9C084B0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37"/>
          <a:stretch>
            <a:fillRect/>
          </a:stretch>
        </p:blipFill>
        <p:spPr>
          <a:xfrm>
            <a:off x="2033443" y="1616832"/>
            <a:ext cx="1743258" cy="3904289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31D6E338-3C11-4577-D181-CF3B956E18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37"/>
          <a:stretch>
            <a:fillRect/>
          </a:stretch>
        </p:blipFill>
        <p:spPr>
          <a:xfrm>
            <a:off x="3834752" y="1616833"/>
            <a:ext cx="1932173" cy="3904289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29C4C51B-1852-9411-CF1D-3DE151D7B3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37"/>
          <a:stretch>
            <a:fillRect/>
          </a:stretch>
        </p:blipFill>
        <p:spPr>
          <a:xfrm>
            <a:off x="5824976" y="1616835"/>
            <a:ext cx="1932173" cy="3904289"/>
          </a:xfrm>
          <a:prstGeom prst="rect">
            <a:avLst/>
          </a:prstGeom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DF481516-818F-788F-1D04-8C0C44A876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37"/>
          <a:stretch>
            <a:fillRect/>
          </a:stretch>
        </p:blipFill>
        <p:spPr>
          <a:xfrm>
            <a:off x="7873251" y="1616834"/>
            <a:ext cx="1932173" cy="3904289"/>
          </a:xfrm>
          <a:prstGeom prst="rect">
            <a:avLst/>
          </a:prstGeom>
        </p:spPr>
      </p:pic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500D68DE-53D6-F717-170B-4C723C57F6C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037"/>
          <a:stretch>
            <a:fillRect/>
          </a:stretch>
        </p:blipFill>
        <p:spPr>
          <a:xfrm>
            <a:off x="9921526" y="1501088"/>
            <a:ext cx="1989453" cy="40200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0C1C0FA-7FD6-8D65-FC0E-08200A1360D8}"/>
              </a:ext>
            </a:extLst>
          </p:cNvPr>
          <p:cNvSpPr txBox="1"/>
          <p:nvPr/>
        </p:nvSpPr>
        <p:spPr>
          <a:xfrm>
            <a:off x="219919" y="5613724"/>
            <a:ext cx="170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Check Balance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B62617-7D21-3F3F-59D9-7CB38A46B54A}"/>
              </a:ext>
            </a:extLst>
          </p:cNvPr>
          <p:cNvSpPr txBox="1"/>
          <p:nvPr/>
        </p:nvSpPr>
        <p:spPr>
          <a:xfrm>
            <a:off x="2279042" y="5613724"/>
            <a:ext cx="1701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Monthly Spending Summary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B6B692-AA5C-F66A-E232-3B7435E7CCA9}"/>
              </a:ext>
            </a:extLst>
          </p:cNvPr>
          <p:cNvSpPr txBox="1"/>
          <p:nvPr/>
        </p:nvSpPr>
        <p:spPr>
          <a:xfrm>
            <a:off x="8002918" y="5576273"/>
            <a:ext cx="170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Tax Saving Advice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D6C021-3C91-927A-C2AB-F76B8567CF33}"/>
              </a:ext>
            </a:extLst>
          </p:cNvPr>
          <p:cNvSpPr txBox="1"/>
          <p:nvPr/>
        </p:nvSpPr>
        <p:spPr>
          <a:xfrm>
            <a:off x="3980521" y="5592334"/>
            <a:ext cx="1701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Investment Suggestions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CE0558-067C-6346-85AE-38A5A5E468F7}"/>
              </a:ext>
            </a:extLst>
          </p:cNvPr>
          <p:cNvSpPr txBox="1"/>
          <p:nvPr/>
        </p:nvSpPr>
        <p:spPr>
          <a:xfrm>
            <a:off x="5940323" y="5567557"/>
            <a:ext cx="170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Set Savings Goal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4831B-5FF6-A7F4-45B8-F4B64810E30F}"/>
              </a:ext>
            </a:extLst>
          </p:cNvPr>
          <p:cNvSpPr txBox="1"/>
          <p:nvPr/>
        </p:nvSpPr>
        <p:spPr>
          <a:xfrm>
            <a:off x="10065513" y="5567676"/>
            <a:ext cx="1701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Emergency Fund Tracker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0D845-4195-B6A7-39FC-53E2E822C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64583E-461F-0E9B-9793-D91A98A1D05A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7991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3975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9109" y="147230"/>
            <a:ext cx="3400162" cy="5671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325"/>
              </a:spcAft>
            </a:pPr>
            <a:r>
              <a:rPr sz="2400" b="1" dirty="0">
                <a:solidFill>
                  <a:srgbClr val="FFFFFF"/>
                </a:solidFill>
              </a:rPr>
              <a:t>AI Coach – Live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970" y="728660"/>
            <a:ext cx="10858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4CFFAA"/>
                </a:solidFill>
              </a:rPr>
              <a:t>Experience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104897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9109" y="1470022"/>
            <a:ext cx="345748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A1F39"/>
                </a:solidFill>
              </a:rPr>
              <a:t>Illustrative User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109" y="2176989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109" y="2180887"/>
            <a:ext cx="237501" cy="2970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56" b="1" dirty="0">
                <a:solidFill>
                  <a:srgbClr val="FFFFFF"/>
                </a:solidFill>
              </a:rPr>
              <a:t> </a:t>
            </a:r>
            <a:r>
              <a:rPr sz="956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3" y="2196764"/>
            <a:ext cx="3038399" cy="3313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Customer logs into mobile banking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109" y="2719914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109" y="2723812"/>
            <a:ext cx="237501" cy="2970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56" b="1" dirty="0">
                <a:solidFill>
                  <a:srgbClr val="FFFFFF"/>
                </a:solidFill>
              </a:rPr>
              <a:t> </a:t>
            </a:r>
            <a:r>
              <a:rPr sz="956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199" y="2713873"/>
            <a:ext cx="3038399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</a:rPr>
              <a:t>AI Coach summarizes monthly income, spend, and cash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09" y="3398304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109" y="3402202"/>
            <a:ext cx="237501" cy="2970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56" b="1" dirty="0">
                <a:solidFill>
                  <a:srgbClr val="FFFFFF"/>
                </a:solidFill>
              </a:rPr>
              <a:t> </a:t>
            </a:r>
            <a:r>
              <a:rPr sz="956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532" y="3395173"/>
            <a:ext cx="3038399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Detects unusual spend or upcoming obligations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09" y="4103154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109" y="4107052"/>
            <a:ext cx="237501" cy="2970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56" b="1" dirty="0">
                <a:solidFill>
                  <a:srgbClr val="FFFFFF"/>
                </a:solidFill>
              </a:rPr>
              <a:t> </a:t>
            </a:r>
            <a:r>
              <a:rPr sz="956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673" y="4107052"/>
            <a:ext cx="3038399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Provides personalized nudges and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09" y="479848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109" y="4802378"/>
            <a:ext cx="237501" cy="2970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56" b="1" dirty="0">
                <a:solidFill>
                  <a:srgbClr val="FFFFFF"/>
                </a:solidFill>
              </a:rPr>
              <a:t> </a:t>
            </a:r>
            <a:r>
              <a:rPr sz="956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199" y="4802119"/>
            <a:ext cx="3038399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Suggests relevant financial action or product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109" y="549380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109" y="5497703"/>
            <a:ext cx="237501" cy="2970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56" b="1" dirty="0">
                <a:solidFill>
                  <a:srgbClr val="FFFFFF"/>
                </a:solidFill>
              </a:rPr>
              <a:t> 6</a:t>
            </a:r>
            <a:endParaRPr sz="956" b="1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8673" y="5479969"/>
            <a:ext cx="3038399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Tracks goals and improves financial discipline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2340" y="1416240"/>
            <a:ext cx="345748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0A1F39"/>
                </a:solidFill>
              </a:rPr>
              <a:t>Live Prototype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2340" y="1908699"/>
            <a:ext cx="3457488" cy="3727385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42829" y="6051021"/>
            <a:ext cx="2834110" cy="324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666666"/>
                </a:solidFill>
              </a:rPr>
              <a:t>Conceptual demo for experience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6400" y="1508313"/>
            <a:ext cx="3546185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0A1F39"/>
                </a:solidFill>
              </a:rPr>
              <a:t>Business Value for the Bank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5097" y="2117723"/>
            <a:ext cx="209544" cy="209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38939" y="2108115"/>
            <a:ext cx="3133646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Higher customer engagement through proactive insights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5097" y="2813048"/>
            <a:ext cx="209544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38939" y="2718226"/>
            <a:ext cx="3133646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Contextual cross-sell of loans, investments, and savings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5097" y="3508372"/>
            <a:ext cx="161920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38939" y="3413637"/>
            <a:ext cx="3190795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Reduced dependency on branches and relationship managers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5097" y="4213222"/>
            <a:ext cx="266693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38939" y="4143305"/>
            <a:ext cx="2593723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Improved personalization at scale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5097" y="4632323"/>
            <a:ext cx="209544" cy="2095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38939" y="4563236"/>
            <a:ext cx="3133646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Lower cost-to-serve through digital nudges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15097" y="5327647"/>
            <a:ext cx="209544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10364" y="5233332"/>
            <a:ext cx="3133646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E1E1E"/>
                </a:solidFill>
              </a:rPr>
              <a:t>Stronger trust via transparent, explainable recommendations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17800" y="6527204"/>
            <a:ext cx="9313333" cy="2759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666666"/>
                </a:solidFill>
              </a:rPr>
              <a:t>Prototype represents an indicative workflow. Production deployment requires bank systems integration, regulatory approvals, and enterprise-grade controls.</a:t>
            </a:r>
          </a:p>
        </p:txBody>
      </p:sp>
      <p:sp>
        <p:nvSpPr>
          <p:cNvPr id="44" name="TextBox 43">
            <a:hlinkClick r:id="rId8"/>
            <a:extLst>
              <a:ext uri="{FF2B5EF4-FFF2-40B4-BE49-F238E27FC236}">
                <a16:creationId xmlns:a16="http://schemas.microsoft.com/office/drawing/2014/main" id="{B8904EBF-DA47-ACD4-841B-534376F55759}"/>
              </a:ext>
            </a:extLst>
          </p:cNvPr>
          <p:cNvSpPr txBox="1"/>
          <p:nvPr/>
        </p:nvSpPr>
        <p:spPr>
          <a:xfrm>
            <a:off x="5218951" y="5557015"/>
            <a:ext cx="1794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solidFill>
                  <a:schemeClr val="tx2"/>
                </a:solidFill>
              </a:rPr>
              <a:t>FinWell</a:t>
            </a:r>
            <a:endParaRPr lang="en-IN" sz="3600" dirty="0">
              <a:solidFill>
                <a:schemeClr val="tx2"/>
              </a:solidFill>
            </a:endParaRPr>
          </a:p>
        </p:txBody>
      </p:sp>
      <p:pic>
        <p:nvPicPr>
          <p:cNvPr id="46" name="Picture 45" descr="A screenshot of a phone&#10;&#10;AI-generated content may be incorrect.">
            <a:extLst>
              <a:ext uri="{FF2B5EF4-FFF2-40B4-BE49-F238E27FC236}">
                <a16:creationId xmlns:a16="http://schemas.microsoft.com/office/drawing/2014/main" id="{19E41F7E-9F98-37FF-89DC-DEB6F9666D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3080" y="2037732"/>
            <a:ext cx="1618004" cy="3484024"/>
          </a:xfrm>
          <a:prstGeom prst="rect">
            <a:avLst/>
          </a:prstGeom>
        </p:spPr>
      </p:pic>
      <p:pic>
        <p:nvPicPr>
          <p:cNvPr id="48" name="Picture 47" descr="A screenshot of a chat&#10;&#10;AI-generated content may be incorrect.">
            <a:extLst>
              <a:ext uri="{FF2B5EF4-FFF2-40B4-BE49-F238E27FC236}">
                <a16:creationId xmlns:a16="http://schemas.microsoft.com/office/drawing/2014/main" id="{7E32CB2A-A2AC-E758-76B1-84223411C9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5526" y="2030379"/>
            <a:ext cx="1600449" cy="3484024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CB75111E-C995-3A47-A8C6-C9A5B1B1F395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12191695" cy="1162050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3466" y="62433"/>
            <a:ext cx="10221401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 dirty="0">
                <a:solidFill>
                  <a:srgbClr val="FFFFFF"/>
                </a:solidFill>
              </a:rPr>
              <a:t>Architecture → Business Value → </a:t>
            </a:r>
            <a:r>
              <a:rPr sz="2392" b="1" dirty="0" err="1">
                <a:solidFill>
                  <a:srgbClr val="FFFFFF"/>
                </a:solidFill>
              </a:rPr>
              <a:t>Hoonartek</a:t>
            </a:r>
            <a:r>
              <a:rPr sz="2392" b="1" dirty="0">
                <a:solidFill>
                  <a:srgbClr val="FFFFFF"/>
                </a:solidFill>
              </a:rPr>
              <a:t>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466" y="614883"/>
            <a:ext cx="10858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25"/>
              </a:spcAft>
            </a:pPr>
            <a:r>
              <a:rPr sz="1435" b="0" dirty="0">
                <a:solidFill>
                  <a:srgbClr val="4CFFAA"/>
                </a:solidFill>
              </a:rPr>
              <a:t>How the GenAI Architecture Creates Measurable Business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39" y="986359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6886" y="1126281"/>
            <a:ext cx="10858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0A1F39"/>
                </a:solidFill>
              </a:rPr>
              <a:t>From Data Signals to Business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9267" y="1441446"/>
            <a:ext cx="9736666" cy="2451953"/>
          </a:xfrm>
          <a:prstGeom prst="roundRect">
            <a:avLst>
              <a:gd name="adj" fmla="val 5574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6886" y="3938058"/>
            <a:ext cx="1085822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650"/>
              </a:spcBef>
              <a:spcAft>
                <a:spcPts val="0"/>
              </a:spcAft>
            </a:pPr>
            <a:r>
              <a:rPr sz="837" b="0" dirty="0">
                <a:solidFill>
                  <a:srgbClr val="666666"/>
                </a:solidFill>
              </a:rPr>
              <a:t>AI converts raw banking data into proactive, personalized financial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2" y="4163276"/>
            <a:ext cx="10858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0A1F39"/>
                </a:solidFill>
              </a:rPr>
              <a:t>Where </a:t>
            </a:r>
            <a:r>
              <a:rPr sz="1435" b="1" dirty="0" err="1">
                <a:solidFill>
                  <a:srgbClr val="0A1F39"/>
                </a:solidFill>
              </a:rPr>
              <a:t>Hoonartek</a:t>
            </a:r>
            <a:r>
              <a:rPr sz="1435" b="1" dirty="0">
                <a:solidFill>
                  <a:srgbClr val="0A1F39"/>
                </a:solidFill>
              </a:rPr>
              <a:t> Enables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537917"/>
            <a:ext cx="3495587" cy="1685913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2475" y="4556851"/>
            <a:ext cx="3095547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 dirty="0">
                <a:solidFill>
                  <a:srgbClr val="0457B0"/>
                </a:solidFill>
              </a:rPr>
              <a:t> </a:t>
            </a:r>
            <a:r>
              <a:rPr sz="1104" dirty="0"/>
              <a:t>  </a:t>
            </a:r>
            <a:r>
              <a:rPr sz="1076" b="1" dirty="0">
                <a:solidFill>
                  <a:srgbClr val="0457B0"/>
                </a:solidFill>
              </a:rPr>
              <a:t> DATA FOUNDATION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6753" y="4671483"/>
            <a:ext cx="171445" cy="1904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377" y="4902198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Data ingestion from CBS &amp; AA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4974165"/>
            <a:ext cx="133346" cy="1333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377" y="5259915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CDP / Lakehouse (Bronze–Silver–Gold)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5298015"/>
            <a:ext cx="133346" cy="1333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377" y="5583765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Customer 360 &amp; feature engineering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5621866"/>
            <a:ext cx="133346" cy="1333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6753" y="5786956"/>
            <a:ext cx="309554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975"/>
              </a:spcBef>
              <a:spcAft>
                <a:spcPts val="0"/>
              </a:spcAft>
            </a:pPr>
            <a:r>
              <a:rPr sz="837" b="1" dirty="0">
                <a:solidFill>
                  <a:srgbClr val="00E65C"/>
                </a:solidFill>
              </a:rPr>
              <a:t>AI-ready, governed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816" y="4537917"/>
            <a:ext cx="3495587" cy="1685913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7132" y="4592118"/>
            <a:ext cx="3095547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 dirty="0">
                <a:solidFill>
                  <a:srgbClr val="0457B0"/>
                </a:solidFill>
              </a:rPr>
              <a:t> </a:t>
            </a:r>
            <a:r>
              <a:rPr sz="1104" dirty="0"/>
              <a:t>  </a:t>
            </a:r>
            <a:r>
              <a:rPr sz="1076" b="1" dirty="0">
                <a:solidFill>
                  <a:srgbClr val="0457B0"/>
                </a:solidFill>
              </a:rPr>
              <a:t> AI &amp; GENAI ENABLEMENT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2836" y="4671483"/>
            <a:ext cx="190495" cy="1904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00459" y="4902198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ML models (spend, risk, goals)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459" y="4974165"/>
            <a:ext cx="133346" cy="1333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00459" y="5259915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GenAI orchestration (summaries, nudges)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459" y="5298015"/>
            <a:ext cx="133346" cy="1333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00459" y="5583765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Hybrid rule + AI decisioning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459" y="5621866"/>
            <a:ext cx="133346" cy="13334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52836" y="5786956"/>
            <a:ext cx="309554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975"/>
              </a:spcBef>
              <a:spcAft>
                <a:spcPts val="0"/>
              </a:spcAft>
            </a:pPr>
            <a:r>
              <a:rPr sz="837" b="1" dirty="0">
                <a:solidFill>
                  <a:srgbClr val="00E65C"/>
                </a:solidFill>
              </a:rPr>
              <a:t>Explainable, compliant intelligence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9374" y="4537917"/>
            <a:ext cx="3495587" cy="1685913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3691" y="4572602"/>
            <a:ext cx="3095547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 dirty="0">
                <a:solidFill>
                  <a:srgbClr val="0457B0"/>
                </a:solidFill>
              </a:rPr>
              <a:t> </a:t>
            </a:r>
            <a:r>
              <a:rPr sz="1104" dirty="0"/>
              <a:t>  </a:t>
            </a:r>
            <a:r>
              <a:rPr sz="1076" b="1" dirty="0">
                <a:solidFill>
                  <a:srgbClr val="0457B0"/>
                </a:solidFill>
              </a:rPr>
              <a:t> GOVERNANCE &amp; SCALE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394" y="4671483"/>
            <a:ext cx="190495" cy="1904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77018" y="4902198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Security &amp; DPDP compliance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7018" y="4974165"/>
            <a:ext cx="133346" cy="13334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77018" y="5259915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Explainable AI &amp; audit trails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7018" y="5298015"/>
            <a:ext cx="133346" cy="13334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77018" y="5583765"/>
            <a:ext cx="3047923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956" b="0">
                <a:solidFill>
                  <a:srgbClr val="1E1E1E"/>
                </a:solidFill>
              </a:rPr>
              <a:t> Enterprise rollout &amp; monitoring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7018" y="5621866"/>
            <a:ext cx="133346" cy="13334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29394" y="5786956"/>
            <a:ext cx="309554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975"/>
              </a:spcBef>
              <a:spcAft>
                <a:spcPts val="0"/>
              </a:spcAft>
            </a:pPr>
            <a:r>
              <a:rPr sz="837" b="1">
                <a:solidFill>
                  <a:srgbClr val="00E65C"/>
                </a:solidFill>
              </a:rPr>
              <a:t>Trusted, scalable deployment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6276" y="6293671"/>
            <a:ext cx="10858228" cy="4572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656276" y="6315646"/>
            <a:ext cx="1085822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1625"/>
              </a:spcBef>
              <a:spcAft>
                <a:spcPts val="0"/>
              </a:spcAft>
            </a:pPr>
            <a:r>
              <a:rPr sz="956" b="1" dirty="0" err="1">
                <a:solidFill>
                  <a:srgbClr val="0A1F39"/>
                </a:solidFill>
              </a:rPr>
              <a:t>Hoonartek</a:t>
            </a:r>
            <a:r>
              <a:rPr sz="956" b="1" dirty="0">
                <a:solidFill>
                  <a:srgbClr val="0A1F39"/>
                </a:solidFill>
              </a:rPr>
              <a:t> enables banks to move from transaction processing to trusted, AI-powered financial coaching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CC01123-3D84-860D-F131-22A86CC6BB03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EAA44C-5383-F053-879E-240CB10B20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9986" y="1397215"/>
            <a:ext cx="9951708" cy="25561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285750"/>
            <a:ext cx="10000998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Roadmap &amp;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52499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485" y="1655400"/>
            <a:ext cx="2916824" cy="39292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0A1F39"/>
                </a:solidFill>
              </a:rPr>
              <a:t> </a:t>
            </a:r>
            <a:r>
              <a:rPr dirty="0"/>
              <a:t>  </a:t>
            </a:r>
            <a:r>
              <a:rPr b="1" dirty="0">
                <a:solidFill>
                  <a:srgbClr val="0A1F39"/>
                </a:solidFill>
              </a:rPr>
              <a:t> Implementation Roadmap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4168" y="1727198"/>
            <a:ext cx="304792" cy="2666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6733" y="2190749"/>
            <a:ext cx="1981150" cy="43814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9129" y="23907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2486025"/>
            <a:ext cx="190495" cy="1904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300922"/>
            <a:ext cx="129548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A1F39"/>
                </a:solidFill>
              </a:rPr>
              <a:t>Phase 1: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417" y="2572968"/>
            <a:ext cx="639855" cy="2928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13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</a:rPr>
              <a:t>Q1/Q2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3082691"/>
            <a:ext cx="1676358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</a:t>
            </a:r>
            <a:r>
              <a:rPr sz="1400" dirty="0"/>
              <a:t> </a:t>
            </a:r>
            <a:r>
              <a:rPr sz="1400" b="0" dirty="0">
                <a:solidFill>
                  <a:srgbClr val="1E1E1E"/>
                </a:solidFill>
              </a:rPr>
              <a:t>Core MVP development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3114675"/>
            <a:ext cx="152396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129" y="3654191"/>
            <a:ext cx="1676358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Internal testing &amp; validation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3686175"/>
            <a:ext cx="152396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9129" y="4225691"/>
            <a:ext cx="1676358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</a:t>
            </a:r>
            <a:r>
              <a:rPr sz="1400" dirty="0"/>
              <a:t> </a:t>
            </a:r>
            <a:r>
              <a:rPr sz="1400" b="0" dirty="0">
                <a:solidFill>
                  <a:srgbClr val="1E1E1E"/>
                </a:solidFill>
              </a:rPr>
              <a:t>Limited user beta program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4257675"/>
            <a:ext cx="152396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9129" y="4797191"/>
            <a:ext cx="1676358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</a:t>
            </a:r>
            <a:r>
              <a:rPr sz="1400" dirty="0"/>
              <a:t> </a:t>
            </a:r>
            <a:r>
              <a:rPr sz="1400" b="0" dirty="0">
                <a:solidFill>
                  <a:srgbClr val="1E1E1E"/>
                </a:solidFill>
              </a:rPr>
              <a:t>Regulatory compliance setup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4829175"/>
            <a:ext cx="152396" cy="152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838379" y="2190749"/>
            <a:ext cx="1981150" cy="43814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90775" y="23907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6022" y="2486025"/>
            <a:ext cx="190495" cy="1904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86062" y="2300922"/>
            <a:ext cx="134235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A1F39"/>
                </a:solidFill>
              </a:rPr>
              <a:t>Phase 2: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6062" y="2572968"/>
            <a:ext cx="639855" cy="2928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13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</a:rPr>
              <a:t>Q3/Q4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775" y="3034193"/>
            <a:ext cx="1533486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</a:t>
            </a:r>
            <a:r>
              <a:rPr sz="1400" dirty="0"/>
              <a:t> </a:t>
            </a:r>
            <a:r>
              <a:rPr sz="1400" b="0" dirty="0">
                <a:solidFill>
                  <a:srgbClr val="1E1E1E"/>
                </a:solidFill>
              </a:rPr>
              <a:t>Full feature deployment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775" y="3114675"/>
            <a:ext cx="152396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90775" y="3510487"/>
            <a:ext cx="1828754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</a:t>
            </a:r>
            <a:r>
              <a:rPr lang="en-US" sz="1400" b="0" dirty="0">
                <a:solidFill>
                  <a:srgbClr val="1E1E1E"/>
                </a:solidFill>
              </a:rPr>
              <a:t> </a:t>
            </a:r>
            <a:r>
              <a:rPr sz="1400" b="0" dirty="0">
                <a:solidFill>
                  <a:srgbClr val="1E1E1E"/>
                </a:solidFill>
              </a:rPr>
              <a:t>Bank-wide integration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775" y="3686175"/>
            <a:ext cx="152396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90775" y="3948593"/>
            <a:ext cx="1676358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</a:t>
            </a:r>
            <a:r>
              <a:rPr sz="1400" dirty="0"/>
              <a:t> </a:t>
            </a:r>
            <a:r>
              <a:rPr sz="1400" b="0" dirty="0">
                <a:solidFill>
                  <a:srgbClr val="1E1E1E"/>
                </a:solidFill>
              </a:rPr>
              <a:t>Performance optimization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775" y="4029075"/>
            <a:ext cx="152396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990775" y="4520092"/>
            <a:ext cx="1533486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</a:t>
            </a:r>
            <a:r>
              <a:rPr sz="1400" dirty="0"/>
              <a:t> </a:t>
            </a:r>
            <a:r>
              <a:rPr sz="1400" b="0" dirty="0">
                <a:solidFill>
                  <a:srgbClr val="1E1E1E"/>
                </a:solidFill>
              </a:rPr>
              <a:t>User feedback iteration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775" y="4600575"/>
            <a:ext cx="152396" cy="1524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019549" y="2190749"/>
            <a:ext cx="1981150" cy="43814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171945" y="25146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2F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8619" y="2609850"/>
            <a:ext cx="238119" cy="19049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67233" y="2314093"/>
            <a:ext cx="1181070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A1F39"/>
                </a:solidFill>
              </a:rPr>
              <a:t>Phase 3: Optimize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7233" y="2830143"/>
            <a:ext cx="593304" cy="2928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13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</a:rPr>
              <a:t>Year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71945" y="3328158"/>
            <a:ext cx="1847172" cy="31598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Advanced AI features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945" y="3371850"/>
            <a:ext cx="152396" cy="152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71945" y="3682766"/>
            <a:ext cx="1676358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Cross-product integration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945" y="3714750"/>
            <a:ext cx="152396" cy="152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71945" y="4242558"/>
            <a:ext cx="1690206" cy="31598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Market expansion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945" y="4286250"/>
            <a:ext cx="152396" cy="1524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71945" y="4597166"/>
            <a:ext cx="1676358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1E1E1E"/>
                </a:solidFill>
              </a:rPr>
              <a:t> </a:t>
            </a:r>
            <a:r>
              <a:rPr sz="1400" dirty="0"/>
              <a:t> </a:t>
            </a:r>
            <a:r>
              <a:rPr sz="1400" b="0" dirty="0">
                <a:solidFill>
                  <a:srgbClr val="1E1E1E"/>
                </a:solidFill>
              </a:rPr>
              <a:t>Continuous improvement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945" y="4629150"/>
            <a:ext cx="152396" cy="15240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7286442" y="1657350"/>
            <a:ext cx="4238519" cy="491490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295967" y="1666874"/>
            <a:ext cx="4219469" cy="676274"/>
          </a:xfrm>
          <a:prstGeom prst="rect">
            <a:avLst/>
          </a:prstGeom>
          <a:solidFill>
            <a:srgbClr val="F5F5F5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438839" y="18097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3136" y="1904999"/>
            <a:ext cx="142871" cy="19049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34126" y="1833199"/>
            <a:ext cx="3056286" cy="324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A1F39"/>
                </a:solidFill>
              </a:rPr>
              <a:t>Key Takeaways &amp; Strategic Recommendations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38839" y="2439754"/>
            <a:ext cx="3933726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975"/>
              </a:spcAft>
            </a:pPr>
            <a:r>
              <a:rPr sz="1400" b="0">
                <a:solidFill>
                  <a:srgbClr val="1E1E1E"/>
                </a:solidFill>
              </a:rPr>
              <a:t> </a:t>
            </a:r>
            <a:r>
              <a:rPr sz="1400"/>
              <a:t>  </a:t>
            </a:r>
            <a:r>
              <a:rPr sz="1400" b="0">
                <a:solidFill>
                  <a:srgbClr val="1E1E1E"/>
                </a:solidFill>
              </a:rPr>
              <a:t>  </a:t>
            </a:r>
            <a:r>
              <a:rPr sz="1400" b="1">
                <a:solidFill>
                  <a:srgbClr val="00E65C"/>
                </a:solidFill>
              </a:rPr>
              <a:t>GenAI Advisor as strategic differentiator</a:t>
            </a:r>
            <a:r>
              <a:rPr sz="1400" b="0">
                <a:solidFill>
                  <a:srgbClr val="1E1E1E"/>
                </a:solidFill>
              </a:rPr>
              <a:t> — drives engagement, loyalty, efficiency 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38839" y="2486025"/>
            <a:ext cx="190495" cy="17145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38839" y="3011254"/>
            <a:ext cx="3933726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975"/>
              </a:spcAft>
            </a:pPr>
            <a:r>
              <a:rPr sz="1400" b="0">
                <a:solidFill>
                  <a:srgbClr val="1E1E1E"/>
                </a:solidFill>
              </a:rPr>
              <a:t> </a:t>
            </a:r>
            <a:r>
              <a:rPr sz="1400"/>
              <a:t>  </a:t>
            </a:r>
            <a:r>
              <a:rPr sz="1400" b="0">
                <a:solidFill>
                  <a:srgbClr val="1E1E1E"/>
                </a:solidFill>
              </a:rPr>
              <a:t>  </a:t>
            </a:r>
            <a:r>
              <a:rPr sz="1400" b="1">
                <a:solidFill>
                  <a:srgbClr val="00E65C"/>
                </a:solidFill>
              </a:rPr>
              <a:t>Cross-functional alignment required</a:t>
            </a:r>
            <a:r>
              <a:rPr sz="1400" b="0">
                <a:solidFill>
                  <a:srgbClr val="1E1E1E"/>
                </a:solidFill>
              </a:rPr>
              <a:t> — IT/Cloud, Data Science, Compliance, UX 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38839" y="3057525"/>
            <a:ext cx="219069" cy="1714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438839" y="3582754"/>
            <a:ext cx="3933726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975"/>
              </a:spcAft>
            </a:pPr>
            <a:r>
              <a:rPr sz="1400" b="0">
                <a:solidFill>
                  <a:srgbClr val="1E1E1E"/>
                </a:solidFill>
              </a:rPr>
              <a:t> </a:t>
            </a:r>
            <a:r>
              <a:rPr sz="1400"/>
              <a:t>  </a:t>
            </a:r>
            <a:r>
              <a:rPr sz="1400" b="0">
                <a:solidFill>
                  <a:srgbClr val="1E1E1E"/>
                </a:solidFill>
              </a:rPr>
              <a:t>  </a:t>
            </a:r>
            <a:r>
              <a:rPr sz="1400" b="1">
                <a:solidFill>
                  <a:srgbClr val="00E65C"/>
                </a:solidFill>
              </a:rPr>
              <a:t>Partner alignment</a:t>
            </a:r>
            <a:r>
              <a:rPr sz="1400" b="0">
                <a:solidFill>
                  <a:srgbClr val="1E1E1E"/>
                </a:solidFill>
              </a:rPr>
              <a:t> — regulatory bodies, fintech/API providers, AI-tech vendors 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38839" y="3629025"/>
            <a:ext cx="219069" cy="1714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438839" y="4144728"/>
            <a:ext cx="3933726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975"/>
              </a:spcAft>
            </a:pPr>
            <a:r>
              <a:rPr sz="1400" b="0">
                <a:solidFill>
                  <a:srgbClr val="1E1E1E"/>
                </a:solidFill>
              </a:rPr>
              <a:t> </a:t>
            </a:r>
            <a:r>
              <a:rPr sz="1400"/>
              <a:t>  </a:t>
            </a:r>
            <a:r>
              <a:rPr sz="1400" b="0">
                <a:solidFill>
                  <a:srgbClr val="1E1E1E"/>
                </a:solidFill>
              </a:rPr>
              <a:t>  </a:t>
            </a:r>
            <a:r>
              <a:rPr sz="1400" b="1">
                <a:solidFill>
                  <a:srgbClr val="00E65C"/>
                </a:solidFill>
              </a:rPr>
              <a:t>Invest in talent</a:t>
            </a:r>
            <a:r>
              <a:rPr sz="1400" b="0">
                <a:solidFill>
                  <a:srgbClr val="1E1E1E"/>
                </a:solidFill>
              </a:rPr>
              <a:t> — data scientists, UX designers, robust monitoring &amp; governance 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38839" y="4190999"/>
            <a:ext cx="219069" cy="17145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438839" y="4716229"/>
            <a:ext cx="3933726" cy="52116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975"/>
              </a:spcAft>
            </a:pPr>
            <a:r>
              <a:rPr sz="1400" b="0">
                <a:solidFill>
                  <a:srgbClr val="1E1E1E"/>
                </a:solidFill>
              </a:rPr>
              <a:t> </a:t>
            </a:r>
            <a:r>
              <a:rPr sz="1400"/>
              <a:t>  </a:t>
            </a:r>
            <a:r>
              <a:rPr sz="1400" b="0">
                <a:solidFill>
                  <a:srgbClr val="1E1E1E"/>
                </a:solidFill>
              </a:rPr>
              <a:t>  </a:t>
            </a:r>
            <a:r>
              <a:rPr sz="1400" b="1">
                <a:solidFill>
                  <a:srgbClr val="00E65C"/>
                </a:solidFill>
              </a:rPr>
              <a:t>Early compliance readiness</a:t>
            </a:r>
            <a:r>
              <a:rPr sz="1400" b="0">
                <a:solidFill>
                  <a:srgbClr val="1E1E1E"/>
                </a:solidFill>
              </a:rPr>
              <a:t>, agile cycles, continuous user feedback &amp; iteration 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38839" y="4762500"/>
            <a:ext cx="171445" cy="1714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818A49F-857B-3956-5406-92A03EE28A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F8574AA8-305F-B796-C4D6-5343F9EF22F0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66733" y="285750"/>
            <a:ext cx="9916600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Risk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952499"/>
            <a:ext cx="952476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457B0"/>
              </a:gs>
              <a:gs pos="100000">
                <a:srgbClr val="00E65C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6733" y="1657350"/>
            <a:ext cx="3495587" cy="23621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9129" y="180974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77" y="1924049"/>
            <a:ext cx="257168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9189" y="1859711"/>
            <a:ext cx="188090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A1F39"/>
                </a:solidFill>
              </a:rPr>
              <a:t>Trust (Transparency)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2584463"/>
            <a:ext cx="3190795" cy="4698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1200" b="0" dirty="0">
                <a:solidFill>
                  <a:srgbClr val="1E1E1E"/>
                </a:solidFill>
              </a:rPr>
              <a:t>Clear communication of AI capabilities and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29" y="3181079"/>
            <a:ext cx="2950744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 dirty="0">
                <a:solidFill>
                  <a:srgbClr val="1E1E1E"/>
                </a:solidFill>
              </a:rPr>
              <a:t> </a:t>
            </a:r>
            <a:r>
              <a:rPr sz="1200" dirty="0"/>
              <a:t>  </a:t>
            </a:r>
            <a:r>
              <a:rPr sz="1200" b="0" dirty="0">
                <a:solidFill>
                  <a:srgbClr val="1E1E1E"/>
                </a:solidFill>
              </a:rPr>
              <a:t> Transparent AI advice with explainability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3219449"/>
            <a:ext cx="171445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9129" y="3504930"/>
            <a:ext cx="2553135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 dirty="0">
                <a:solidFill>
                  <a:srgbClr val="1E1E1E"/>
                </a:solidFill>
              </a:rPr>
              <a:t> </a:t>
            </a:r>
            <a:r>
              <a:rPr sz="1200" dirty="0"/>
              <a:t>  </a:t>
            </a:r>
            <a:r>
              <a:rPr sz="1200" b="0" dirty="0">
                <a:solidFill>
                  <a:srgbClr val="1E1E1E"/>
                </a:solidFill>
              </a:rPr>
              <a:t> Clear disclosure of AI involvement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3543300"/>
            <a:ext cx="171445" cy="1714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352816" y="1657350"/>
            <a:ext cx="3495587" cy="23621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05212" y="180974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0E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0935" y="1924049"/>
            <a:ext cx="285742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05272" y="1859711"/>
            <a:ext cx="206877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A1F39"/>
                </a:solidFill>
              </a:rPr>
              <a:t>People First &amp; Fairness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212" y="2674231"/>
            <a:ext cx="3195555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1200" b="0">
                <a:solidFill>
                  <a:srgbClr val="1E1E1E"/>
                </a:solidFill>
              </a:rPr>
              <a:t>Ensuring AI systems treat all customers equitably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5212" y="3181079"/>
            <a:ext cx="2881815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Bias detection and mitigation protocols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212" y="3219449"/>
            <a:ext cx="171445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05212" y="3504930"/>
            <a:ext cx="2828980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Inclusive design for diverse user needs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212" y="3543300"/>
            <a:ext cx="171445" cy="17145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029374" y="1657350"/>
            <a:ext cx="3495587" cy="23621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81770" y="180974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2F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7493" y="1924049"/>
            <a:ext cx="285742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81830" y="1859711"/>
            <a:ext cx="275408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39"/>
                </a:solidFill>
              </a:rPr>
              <a:t>Accountability &amp; 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1770" y="2674231"/>
            <a:ext cx="3242234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1200" b="0">
                <a:solidFill>
                  <a:srgbClr val="1E1E1E"/>
                </a:solidFill>
              </a:rPr>
              <a:t>Clear responsibility for AI decisions and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1770" y="3181079"/>
            <a:ext cx="2684774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Human oversight &amp; escalation paths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770" y="3219449"/>
            <a:ext cx="171445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81770" y="3504930"/>
            <a:ext cx="2104935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Comprehensive audit trails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770" y="3543300"/>
            <a:ext cx="171445" cy="1714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66733" y="4210049"/>
            <a:ext cx="3495587" cy="23621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9129" y="43624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4476750"/>
            <a:ext cx="228594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9189" y="4412412"/>
            <a:ext cx="176247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39"/>
                </a:solidFill>
              </a:rPr>
              <a:t>Resilience &amp;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129" y="5137164"/>
            <a:ext cx="3190795" cy="4698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1200" b="0">
                <a:solidFill>
                  <a:srgbClr val="1E1E1E"/>
                </a:solidFill>
              </a:rPr>
              <a:t>Robust systems that maintain performance under stress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29" y="5733780"/>
            <a:ext cx="2568908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Regular security testing &amp; updates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5772150"/>
            <a:ext cx="171445" cy="1714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19129" y="6057629"/>
            <a:ext cx="3040832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Fail-safe mechanisms for critical functions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6095999"/>
            <a:ext cx="171445" cy="17145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352816" y="4210049"/>
            <a:ext cx="3495587" cy="23621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05212" y="43624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45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9034" y="4476750"/>
            <a:ext cx="200019" cy="228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05272" y="4412412"/>
            <a:ext cx="192014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39"/>
                </a:solidFill>
              </a:rPr>
              <a:t>Data Privacy &amp; DPDP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5212" y="5137164"/>
            <a:ext cx="3190795" cy="4698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1200" b="0">
                <a:solidFill>
                  <a:srgbClr val="1E1E1E"/>
                </a:solidFill>
              </a:rPr>
              <a:t>Protecting customer data and complying with privacy laws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5212" y="5733780"/>
            <a:ext cx="2740109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Consent flow via Account Aggregator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212" y="5772150"/>
            <a:ext cx="171445" cy="1714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505212" y="6057629"/>
            <a:ext cx="2511521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Encryption &amp; data deletion policy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212" y="6095999"/>
            <a:ext cx="171445" cy="17145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029374" y="4210049"/>
            <a:ext cx="3495587" cy="23621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25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181770" y="43624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0E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96067" y="4476750"/>
            <a:ext cx="228594" cy="228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781830" y="4412412"/>
            <a:ext cx="199926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39"/>
                </a:solidFill>
              </a:rPr>
              <a:t>Regulatory Alignment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1770" y="5226932"/>
            <a:ext cx="3042821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1200" b="0">
                <a:solidFill>
                  <a:srgbClr val="1E1E1E"/>
                </a:solidFill>
              </a:rPr>
              <a:t>Ensuring compliance with financial regulations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1770" y="5733780"/>
            <a:ext cx="2648930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RBI's </a:t>
            </a:r>
            <a:r>
              <a:rPr sz="1200" b="1">
                <a:solidFill>
                  <a:srgbClr val="00E65C"/>
                </a:solidFill>
              </a:rPr>
              <a:t>FREE-AI</a:t>
            </a:r>
            <a:r>
              <a:rPr sz="1200" b="0">
                <a:solidFill>
                  <a:srgbClr val="1E1E1E"/>
                </a:solidFill>
              </a:rPr>
              <a:t> principles compliance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770" y="5772150"/>
            <a:ext cx="171445" cy="1714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181770" y="6057629"/>
            <a:ext cx="2771593" cy="30534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1200" b="0">
                <a:solidFill>
                  <a:srgbClr val="1E1E1E"/>
                </a:solidFill>
              </a:rPr>
              <a:t> </a:t>
            </a:r>
            <a:r>
              <a:rPr sz="1200"/>
              <a:t>  </a:t>
            </a:r>
            <a:r>
              <a:rPr sz="1200" b="0">
                <a:solidFill>
                  <a:srgbClr val="1E1E1E"/>
                </a:solidFill>
              </a:rPr>
              <a:t> Regular regulatory reviews &amp; updates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770" y="6095999"/>
            <a:ext cx="171445" cy="1714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EBD415C-FD84-1349-93D4-D1BDFE1553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2BA04505-3264-145C-BDA6-F15565A65C46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BF2E-BB32-1CDA-82C4-6B85D961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B254DA-8FF8-D48C-1D26-63734A75DB9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91C2E0-29B9-EE67-5373-7459475C3F64}"/>
              </a:ext>
            </a:extLst>
          </p:cNvPr>
          <p:cNvSpPr txBox="1"/>
          <p:nvPr/>
        </p:nvSpPr>
        <p:spPr>
          <a:xfrm>
            <a:off x="4869763" y="3118338"/>
            <a:ext cx="2452167" cy="6213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sz="4000" b="1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8E73C-8E58-BC3B-A2FB-9752C713F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30" y="6297119"/>
            <a:ext cx="579170" cy="5608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81A175-C065-E157-F46A-B25CF8F3A5D1}"/>
              </a:ext>
            </a:extLst>
          </p:cNvPr>
          <p:cNvSpPr/>
          <p:nvPr/>
        </p:nvSpPr>
        <p:spPr>
          <a:xfrm>
            <a:off x="10953475" y="114300"/>
            <a:ext cx="1142971" cy="17145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4198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986</Words>
  <Application>Microsoft Office PowerPoint</Application>
  <PresentationFormat>Widescreen</PresentationFormat>
  <Paragraphs>209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Anvit</dc:creator>
  <cp:keywords/>
  <dc:description>generated using python-pptx</dc:description>
  <cp:lastModifiedBy>anvit kamble</cp:lastModifiedBy>
  <cp:revision>42</cp:revision>
  <dcterms:created xsi:type="dcterms:W3CDTF">2013-01-27T09:14:16Z</dcterms:created>
  <dcterms:modified xsi:type="dcterms:W3CDTF">2026-03-13T21:37:23Z</dcterms:modified>
  <cp:category/>
</cp:coreProperties>
</file>